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Roboto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Executive Report: Nvidia Global Sales &amp; Performance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End-to-end analysis of global sales, product performance, marketing ROI, and customer behavior using SQL queries and Power BI dashboards.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9556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Headline Metrics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669679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865041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Net Revenue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273723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$39.34 Billion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669679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865041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 Spend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3273723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$4.15 Billion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3960515"/>
            <a:ext cx="3053877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15587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 ROI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564559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8.49x overall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904359" y="3960515"/>
            <a:ext cx="3053976" cy="1101824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99715" y="415587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Avg CSAT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099715" y="4564559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3.01 / 5.0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28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Regional Revenue Highlights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070" y="2369641"/>
            <a:ext cx="2992760" cy="2992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13031" y="3014464"/>
            <a:ext cx="622344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Regional Wins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313031" y="3498751"/>
            <a:ext cx="6223440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AI in South America: $169.68M across 1,683 transactions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Center leader: Middle East at $168.92M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Global distribution: APAC, Europe, North America, South America, Middle East, Africa evenly spread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11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Product Performance: High-Value SKUs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949773"/>
            <a:ext cx="1541622" cy="19270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39331" y="2949773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Tesla V100 (OEM)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439331" y="3358455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Highest avg net revenue per order: $1,030,569.45; ASP $853.90.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915" y="2949773"/>
            <a:ext cx="1541722" cy="19271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1870" y="2949773"/>
            <a:ext cx="35383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RTX 4090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991870" y="3358455"/>
            <a:ext cx="35383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Avg net revenue per order &gt; $1,015,000 across Data Center, AI, Gaming.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92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Marketing Efficiency by Category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5950"/>
            <a:ext cx="5770220" cy="3960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9202" y="1843385"/>
            <a:ext cx="463726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99202" y="2807295"/>
            <a:ext cx="4637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 Effectiveness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899202" y="3291582"/>
            <a:ext cx="4637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 effectiveness values consistent across categories (~0.17–0.18). Marketing ROI remains steady, supporting continued spend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629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Discount Tiers &amp; Customer Outcomes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72266" y="1823244"/>
            <a:ext cx="19050" cy="4488359"/>
          </a:xfrm>
          <a:prstGeom prst="roundRect">
            <a:avLst>
              <a:gd name="adj" fmla="val 49999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5214311" y="1823244"/>
            <a:ext cx="3148430" cy="1211362"/>
          </a:xfrm>
          <a:custGeom>
            <a:avLst/>
            <a:gdLst/>
            <a:ahLst/>
            <a:cxnLst/>
            <a:rect l="l" t="t" r="r" b="b"/>
            <a:pathLst>
              <a:path w="3148430" h="1211362">
                <a:moveTo>
                  <a:pt x="58921" y="0"/>
                </a:moveTo>
                <a:lnTo>
                  <a:pt x="3148430" y="0"/>
                </a:lnTo>
                <a:lnTo>
                  <a:pt x="3148430" y="1211362"/>
                </a:lnTo>
                <a:lnTo>
                  <a:pt x="58921" y="1211362"/>
                </a:lnTo>
                <a:arcTo hR="58922" wR="58921" stAng="5400000" swAng="5400000"/>
                <a:lnTo>
                  <a:pt x="0" y="58922"/>
                </a:lnTo>
                <a:arcTo hR="58922" wR="58921" stAng="10800000" swAng="5400000"/>
                <a:close/>
              </a:path>
            </a:pathLst>
          </a:cu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88932" y="1997869"/>
            <a:ext cx="28055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High Discount (15%+)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388932" y="2350790"/>
            <a:ext cx="280553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15,040 orders • Avg return rate 2.57% • CSAT 3.01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00840" y="3334445"/>
            <a:ext cx="3148430" cy="1211362"/>
          </a:xfrm>
          <a:custGeom>
            <a:avLst/>
            <a:gdLst/>
            <a:ahLst/>
            <a:cxnLst/>
            <a:rect l="l" t="t" r="r" b="b"/>
            <a:pathLst>
              <a:path w="3148430" h="1211362">
                <a:moveTo>
                  <a:pt x="0" y="0"/>
                </a:moveTo>
                <a:lnTo>
                  <a:pt x="3089509" y="0"/>
                </a:lnTo>
                <a:arcTo hR="58922" wR="58921" stAng="16200000" swAng="5400000"/>
                <a:lnTo>
                  <a:pt x="3148430" y="1152440"/>
                </a:lnTo>
                <a:arcTo hR="58922" wR="58921" stAng="0" swAng="5400000"/>
                <a:lnTo>
                  <a:pt x="0" y="1211362"/>
                </a:lnTo>
                <a:lnTo>
                  <a:pt x="0" y="0"/>
                </a:lnTo>
                <a:close/>
              </a:path>
            </a:pathLst>
          </a:cu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69111" y="3509070"/>
            <a:ext cx="28055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Medium Discount (5–15%)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69111" y="3861991"/>
            <a:ext cx="280553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16,798 orders (highest volume) • Avg return rate 2.56%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14311" y="4845645"/>
            <a:ext cx="3148430" cy="1465957"/>
          </a:xfrm>
          <a:custGeom>
            <a:avLst/>
            <a:gdLst/>
            <a:ahLst/>
            <a:cxnLst/>
            <a:rect l="l" t="t" r="r" b="b"/>
            <a:pathLst>
              <a:path w="3148430" h="1465957">
                <a:moveTo>
                  <a:pt x="58921" y="0"/>
                </a:moveTo>
                <a:lnTo>
                  <a:pt x="3148430" y="0"/>
                </a:lnTo>
                <a:lnTo>
                  <a:pt x="3148430" y="1465957"/>
                </a:lnTo>
                <a:lnTo>
                  <a:pt x="58921" y="1465957"/>
                </a:lnTo>
                <a:arcTo hR="58922" wR="58921" stAng="5400000" swAng="5400000"/>
                <a:lnTo>
                  <a:pt x="0" y="58922"/>
                </a:lnTo>
                <a:arcTo hR="58922" wR="58921" stAng="10800000" swAng="5400000"/>
                <a:close/>
              </a:path>
            </a:pathLst>
          </a:cu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88932" y="5020270"/>
            <a:ext cx="28055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Impact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88932" y="5373191"/>
            <a:ext cx="280553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Higher discount tiers did not significantly alter CSAT or return rates.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Seasonality &amp; Monthly Trends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2324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algn="ctr" indent="0" marL="0">
              <a:lnSpc>
                <a:spcPct val="133000"/>
              </a:lnSpc>
              <a:spcAft>
                <a:spcPts val="1300"/>
              </a:spcAft>
              <a:buNone/>
            </a:pPr>
            <a:endParaRPr lang="en-US" sz="145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Peak demand spikes: April ($3.38B) and July ($3.42B). Major trough in February (~$3.05B) with rebound in March—opportunity to time marketing for momentum.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994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Adoption &amp; Retention</a:t>
            </a:r>
            <a:endParaRPr lang="en-US" sz="3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816894"/>
            <a:ext cx="420776" cy="4207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33360" y="2425005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  AI/ML Adoption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233360" y="2777927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50% average adoption across customer segments.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32361"/>
            <a:ext cx="420776" cy="4207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3360" y="3940473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  Retention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233360" y="4293394"/>
            <a:ext cx="629686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Average customer retention rate ~70%.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847828"/>
            <a:ext cx="420776" cy="42078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33360" y="5455940"/>
            <a:ext cx="6296860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  CSAT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233360" y="5808861"/>
            <a:ext cx="6296860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Avg CSAT 3.01 / 5.0 across Cloud Providers, Gamers, AI Researchers,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and Educational Institutions.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693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Strategic Recommendations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1717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2467570"/>
            <a:ext cx="3053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2612827"/>
            <a:ext cx="3053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Shift Marketing to Peaks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3021509"/>
            <a:ext cx="3053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Reallocate ad budgets toward Q2–Q3 (March–July) to capture seasonal momentum.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76244" y="217170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76244" y="2467570"/>
            <a:ext cx="3053976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8476244" y="2612827"/>
            <a:ext cx="30539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Improve Post‑Sales Experience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76244" y="3316784"/>
            <a:ext cx="305397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Prioritize post-sales support and driver/software updates to raise CSAT from 3.01.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33360" y="455473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850606"/>
            <a:ext cx="629686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99586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Expand Enterprise Bundles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233360" y="540454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Scale RTX 4090 and Tesla V100 enterprise bundles in South America and Middle East.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532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 &amp; Next Steps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219523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Summary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79826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Nvidia shows strong revenue ($39.34B) and efficient marketing (8.49x ROI). High-value SKUs and regional wins point to targeted growth opportunities.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3686572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Recommended Next Steps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33360" y="4265315"/>
            <a:ext cx="6296860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Implement seasonal ad reallocation (Q2–Q3)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Invest in post-sales improvements to raise CSAT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Scale enterprise product bundles in high-performing regions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2026-09-18T11:46:59Z</dcterms:created>
  <dcterms:modified xsi:type="dcterms:W3CDTF">2026-09-18T11:46:59Z</dcterms:modified>
</cp:coreProperties>
</file>